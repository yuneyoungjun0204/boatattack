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7CEEB"/>
                </a:solidFill>
                <a:latin typeface="맑은 고딕"/>
              </a:defRPr>
            </a:pPr>
            <a:r>
              <a:t>중간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강화학습 기반</a:t>
            </a:r>
            <a:br/>
            <a:r>
              <a:t>다중 무인 수상정 협력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7CEEB"/>
                </a:solidFill>
                <a:latin typeface="맑은 고딕"/>
              </a:defRPr>
            </a:pPr>
            <a:r>
              <a:t>Cooperative Control of Multiple Unmanned Surface Vehicles</a:t>
            </a:r>
            <a:br/>
            <a:r>
              <a:t>Using Multi-Agent Reinforcement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  <a:latin typeface="맑은 고딕"/>
              </a:defRPr>
            </a:pPr>
            <a:r>
              <a:t>2026.03  |  ANSL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연구 배경 및 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31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환경 설계 (시뮬레이션)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에이전트 설계 (관측 / 액션)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보상 함수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43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Convoy-Deploy-Exit 메커니즘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46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커리큘럼 학습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49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349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현재 진행 상황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01  연구 배경 및 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1E90FF"/>
                </a:solidFill>
                <a:latin typeface="맑은 고딕"/>
              </a:defRPr>
            </a:pPr>
            <a:r>
              <a:t>연구 배경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• 해상 안보 위협 증가 (무인 자폭 수상정 등)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• 다수 소형 무인 수상정(USV)의 협력 방어 필요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• 기존 규칙 기반 제어의 한계 (동적 환경 대응 불가)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• 강화학습(RL)을 통한 자율 협력 제어 연구 필요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22860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문제 정의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• 2대의 방어 USV가 그물(Web)을 이용하여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  다수의 적 공격선을 포획하는 협력 제어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• 대형(Formation) 유지 + 전술 기동 동시 수행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• 다수 쌍이 동시에 독립적으로 임무 수행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2ECC71"/>
                </a:solidFill>
                <a:latin typeface="맑은 고딕"/>
              </a:defRPr>
            </a:pPr>
            <a:r>
              <a:t>핵심 도전 과제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① 실시간 협력 의사결정: 2대의 USV가 그물 간격을 유지하며 동시에 적을 추적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② 가변적 적 수 대응: 에피소드마다 다른 적 수·포메이션에 대응하는 일반화 능력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③ 다중 쌍 독립 운용: 여러 USV 쌍이 각각 독립적으로 적을 포획, 상호 충돌 회피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④ 물리적 현실성: Gerstner 파도, 부력, 해류 등 실제 해양 환경 시뮬레이션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02  시스템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1E90FF"/>
                </a:solidFill>
                <a:latin typeface="맑은 고딕"/>
              </a:defRPr>
            </a:pPr>
            <a:r>
              <a:t>Unity 시뮬레이션 환경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Gerstner 파도 시뮬레이션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Rigidbody 기반 선박 물리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Engine.cs: 추진력/조타 제어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DynamicWeb: 그물 물리 시뮬레이션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오브젝트 풀 시스템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  (적군 동적 스폰/재활용)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멀티 환경 병렬 학습 지원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ML-Agents 프레임워크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MA-POCA (Multi-Agent POsthumous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  Credit Assignment)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PPO (Proximal Policy Optimization)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DefenseAgent: 전술 에이전트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BufferSensor: 가변 적군 관측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GroupReward: 팀 보상 분배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DecisionRequester: 5 스텝 주기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2ECC71"/>
                </a:solidFill>
                <a:latin typeface="맑은 고딕"/>
              </a:defRPr>
            </a:pPr>
            <a:r>
              <a:t>핵심 제어 모듈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DefenseEnvController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  → 에피소드/보상 중앙 관리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DefenseRewardCalculator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  → 보상 함수 모듈화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LaunchZoneManager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  → 다수 쌍 진수/배치 관리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EnemyFormationSpawner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  → 적 포메이션 (집중/파상/양동)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03  환경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1E90FF"/>
                </a:solidFill>
                <a:latin typeface="맑은 고딕"/>
              </a:defRPr>
            </a:pPr>
            <a:r>
              <a:t>환경 구성 요소</a:t>
            </a:r>
          </a:p>
          <a:p>
            <a:pPr algn="l">
              <a:spcBef>
                <a:spcPts val="200"/>
              </a:spcBef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모선 (MotherShip)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→ 방어 대상, 중앙에 고정 배치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방어 USV 쌍 (DefensePair)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→ 2대가 그물로 연결, 다수 쌍 동시 운용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→ LaunchZone에서 진수 (4방위: 0°/90°/180°/270°)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적 공격선 (AttackBoat)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→ 모선을 향해 돌진, 오브젝트 풀로 관리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→ 3가지 포메이션: 집중/파상/양동 공격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그물 (DynamicWeb)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→ 2대 USV 사이에 동적으로 전개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→ 최소 활성 거리(20m) 이상 시 활성화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1E90FF"/>
                </a:solidFill>
                <a:latin typeface="맑은 고딕"/>
              </a:defRPr>
            </a:pPr>
            <a:r>
              <a:t>적 포메이션 시스템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600" b="1">
                <a:solidFill>
                  <a:srgbClr val="2ECC71"/>
                </a:solidFill>
                <a:latin typeface="맑은 고딕"/>
              </a:defRPr>
            </a:pPr>
            <a:r>
              <a:t>① Concentrated (집중 공격)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 → 한 방향 ±5~25° 밀집 돌진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600" b="1">
                <a:solidFill>
                  <a:srgbClr val="2ECC71"/>
                </a:solidFill>
                <a:latin typeface="맑은 고딕"/>
              </a:defRPr>
            </a:pPr>
            <a:r>
              <a:t>② Wave (파상 공격)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 → 같은 방향 2~4 웨이브 시차 돌진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600" b="1">
                <a:solidFill>
                  <a:srgbClr val="2ECC71"/>
                </a:solidFill>
                <a:latin typeface="맑은 고딕"/>
              </a:defRPr>
            </a:pPr>
            <a:r>
              <a:t>③ Diversionary (양동 공격)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 → 3방향 120° 간격 분산 공격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600" b="1">
                <a:solidFill>
                  <a:srgbClr val="2ECC71"/>
                </a:solidFill>
                <a:latin typeface="맑은 고딕"/>
              </a:defRPr>
            </a:pPr>
            <a:r>
              <a:t>④ Random (랜덤)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 → 매 에피소드 3가지 중 랜덤 선택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  <a:r>
              <a:t>   → 과적합 방지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04  에이전트 설계 — 관측 공간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E90FF"/>
                </a:solidFill>
                <a:latin typeface="맑은 고딕"/>
              </a:defRPr>
            </a:pPr>
            <a:r>
              <a:t>VectorSensor (6개, ×3 Stack)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파트너 관측 (3개)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① 거리: dist/(dist+k)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② 방위: SignedBearing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③ 헤딩차: sin(ΔAngle)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모선 관측 (1개)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④ 거리: dist/(dist+k)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자기 상태 (2개)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⑤ Throttle (0~1)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⑥ Steering (-1~+1)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E90FF"/>
                </a:solidFill>
                <a:latin typeface="맑은 고딕"/>
              </a:defRPr>
            </a:pPr>
            <a:r>
              <a:t>EnemyBufferSensor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(최대 10대 × 4개 = 가변)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적군 1대당 관측값: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① Dist: 정규화 거리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② SignedBrg: 상대 방위각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③ Hdg: 헤딩 차이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④ SignedRayDist: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   적→모선 Ray 기준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   좌(-)/우(+) 수직 거리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※ 거리순 정렬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※ Neutralized 적 제외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E90FF"/>
                </a:solidFill>
                <a:latin typeface="맑은 고딕"/>
              </a:defRPr>
            </a:pPr>
            <a:r>
              <a:t>AllyBufferSensor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(최대 10쌍 × 3개 = 가변)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아군 쌍 1개당 관측값: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① Dist: 쌍 중심까지 거리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② Bearing: 상대 방위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③ WebLength: 그물 길이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※ 거리순 정렬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※ 트랩(정지 그물) 포함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핵심 설계 원칙: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모든 관측값은 자기 기준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  상대값 (절대 좌표 미사용)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7CEEB"/>
                </a:solidFill>
                <a:latin typeface="맑은 고딕"/>
              </a:defRPr>
            </a:pPr>
            <a:r>
              <a:t>총 관측 차원:  VectorSensor 6×3(Stack) = 18  +  EnemyBuffer 4×10(max)  +  AllyBuffer 3×10(max)  =  가변 (최대 88차원)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04  에이전트 설계 — 액션 공간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22860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1E90FF"/>
                </a:solidFill>
                <a:latin typeface="맑은 고딕"/>
              </a:defRPr>
            </a:pPr>
            <a:r>
              <a:t>연속 액션 2개 (Continuous Actions)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Action[0] — Throttle (추력):   -1 ~ +1  →  매핑: (input+1)×0.25 + 0.5  =  0.5 ~ 1.0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Action[1] — Steering (조타):   -1 ~ +1  →  감도 계수(0.3) 적용 후 Engine.Turn() 전달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4572000" cy="201168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물리 제어 특성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ForceMode.Acceleration (질량 무관)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Gerstner 파도와 연동된 부력 시스템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최소 속도 50% 보장 (후진 불가)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입력 스무딩: Lerp 기반 부드러운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97680"/>
            <a:ext cx="4572000" cy="201168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2ECC71"/>
                </a:solidFill>
                <a:latin typeface="맑은 고딕"/>
              </a:defRPr>
            </a:pPr>
            <a:r>
              <a:t>DecisionRequester 설정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Decision Period: 5 (5 FixedUpdate마다)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TakeActionsBetweenDecisions: True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time_scale: 10 (물리 안정성 확보)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실효 결정 주기: ~0.5초 (실시간 환산)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  보상 함수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5603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2ECC71"/>
                </a:solidFill>
                <a:latin typeface="맑은 고딕"/>
              </a:defRPr>
            </a:pPr>
            <a:r>
              <a:t>Dense 보상 (매 스텝)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① 대형 유지: +0.005 × (1 - error/tolerance)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   → 아군 간격 50m±35m 범위 내 보상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② 대형 이탈 페널티: -0.002 × 초과거리(m)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   → 범위 밖 연속 페널티 (Soft Boundary)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③ Ray 수직 접근: +0.002 × (1 - d/(d+200))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   → 적→모선 Ray에 가까울수록 보상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④ 추력 보상: +0.0002 × throttle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25603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Sparse 보상 (이벤트)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500" b="0">
                <a:solidFill>
                  <a:srgbClr val="2ECC71"/>
                </a:solidFill>
                <a:latin typeface="맑은 고딕"/>
              </a:defRPr>
            </a:pPr>
            <a:r>
              <a:t>⊕ 포획 성공:   +1.0 (연속 보너스 포함)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2ECC71"/>
                </a:solidFill>
                <a:latin typeface="맑은 고딕"/>
              </a:defRPr>
            </a:pPr>
            <a:r>
              <a:t>⊕ 전멸 보너스: +2.0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E74C3C"/>
                </a:solidFill>
                <a:latin typeface="맑은 고딕"/>
              </a:defRPr>
            </a:pPr>
            <a:r>
              <a:t>⊖ 모선 충돌:   -1.0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E74C3C"/>
                </a:solidFill>
                <a:latin typeface="맑은 고딕"/>
              </a:defRPr>
            </a:pPr>
            <a:r>
              <a:t>⊖ 적 돌파:     -1.0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E74C3C"/>
                </a:solidFill>
                <a:latin typeface="맑은 고딕"/>
              </a:defRPr>
            </a:pPr>
            <a:r>
              <a:t>⊖ 아군 충돌:   -0.5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E74C3C"/>
                </a:solidFill>
                <a:latin typeface="맑은 고딕"/>
              </a:defRPr>
            </a:pPr>
            <a:r>
              <a:t>⊖ 거리 초과:   -0.5 + 에피소드 종료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E74C3C"/>
                </a:solidFill>
                <a:latin typeface="맑은 고딕"/>
              </a:defRPr>
            </a:pPr>
            <a:r>
              <a:t>⊖ 잔여 적:     -0.5 × 남은 적 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1E90FF"/>
                </a:solidFill>
                <a:latin typeface="맑은 고딕"/>
              </a:defRPr>
            </a:pPr>
            <a:r>
              <a:t>보상 설계 원칙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Soft Boundary: 대형 이탈 시 연속 페널티 → Hard Kill(에피소드 종료) 전에 교정 기회 제공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관측-보상 커플링: SignedRayDist 관측값과 Ray 접근 보상이 동일 기하학 기반 → 학습 가속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• Dense 보상 우선: 매 스텝 작은 보상이 Sparse 이벤트 보상보다 학습에 효과적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06  Convoy-Deploy-Exit 메커니즘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000" b="1">
                <a:solidFill>
                  <a:srgbClr val="1E90FF"/>
                </a:solidFill>
                <a:latin typeface="맑은 고딕"/>
              </a:defRPr>
            </a:pPr>
            <a:r>
              <a:t>CONVOY (접근)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2대가 대형 유지하며 이동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그물 접힌 상태 (&lt; 20m)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ML 정책으로 조향/추력 제어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적→모선 Ray 기준 접근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활성 보상: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2ECC71"/>
                </a:solidFill>
                <a:latin typeface="맑은 고딕"/>
              </a:defRPr>
            </a:pPr>
            <a:r>
              <a:t>  ✓ 대형 유지 (+0.005)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2ECC71"/>
                </a:solidFill>
                <a:latin typeface="맑은 고딕"/>
              </a:defRPr>
            </a:pPr>
            <a:r>
              <a:t>  ✓ Ray 수직 접근 (+0.002)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2ECC71"/>
                </a:solidFill>
                <a:latin typeface="맑은 고딕"/>
              </a:defRPr>
            </a:pPr>
            <a:r>
              <a:t>  ✓ 추력 보상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DEPLOY (전개)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적 150m 이내 진입 시 트리거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양쪽으로 분리 조향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그물 자동 전개 (&gt; 20m)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목표 간격 도달까지 확장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전환 조건: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1E90FF"/>
                </a:solidFill>
                <a:latin typeface="맑은 고딕"/>
              </a:defRPr>
            </a:pPr>
            <a:r>
              <a:t>  → deployRange: 150m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1E90FF"/>
                </a:solidFill>
                <a:latin typeface="맑은 고딕"/>
              </a:defRPr>
            </a:pPr>
            <a:r>
              <a:t>  → 규칙 기반 (ML 아님)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1E90FF"/>
                </a:solidFill>
                <a:latin typeface="맑은 고딕"/>
              </a:defRPr>
            </a:pPr>
            <a:r>
              <a:t>  → deploySplitSteer로 분리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000" b="1">
                <a:solidFill>
                  <a:srgbClr val="2ECC71"/>
                </a:solidFill>
                <a:latin typeface="맑은 고딕"/>
              </a:defRPr>
            </a:pPr>
            <a:r>
              <a:t>EXIT (정지/포획)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간격 100m+ 도달 시 정지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선박 Neutralized (ML 비활성)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그물 유지 → 다중 포획 가능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파도/해류에 자연 표류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핵심 특징: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1E90FF"/>
                </a:solidFill>
                <a:latin typeface="맑은 고딕"/>
              </a:defRPr>
            </a:pPr>
            <a:r>
              <a:t>  → 한번 전개된 그물 회수 불가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1E90FF"/>
                </a:solidFill>
                <a:latin typeface="맑은 고딕"/>
              </a:defRPr>
            </a:pPr>
            <a:r>
              <a:t>  → 에피소드 종료까지 유지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1E90FF"/>
                </a:solidFill>
                <a:latin typeface="맑은 고딕"/>
              </a:defRPr>
            </a:pPr>
            <a:r>
              <a:t>  → 새 쌍이 추가 진수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07  커리큘럼 학습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1E90FF"/>
                </a:solidFill>
                <a:latin typeface="맑은 고딕"/>
              </a:defRPr>
            </a:pPr>
            <a:r>
              <a:t>Stage 1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1E90FF"/>
                </a:solidFill>
                <a:latin typeface="맑은 고딕"/>
              </a:defRPr>
            </a:pPr>
            <a:r>
              <a:t>Formation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대형 유지 학습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적군 없이 대형 유지만 학습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간격 50m±35m 보상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기본 조향/추력 익힘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56032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Stage 2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Capture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포획 학습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적군 등장, 포획 보상 활성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Ray 수직 접근 학습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Web 전개 타이밍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256032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Stage 3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2ECC71"/>
                </a:solidFill>
                <a:latin typeface="맑은 고딕"/>
              </a:defRPr>
            </a:pPr>
            <a:r>
              <a:t>Tactical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종합 전술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Stage 1+2 모든 보상 활성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대형 유지 + 포획 동시 수행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다수 적 포메이션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645920"/>
            <a:ext cx="256032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Stage 8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E74C3C"/>
                </a:solidFill>
                <a:latin typeface="맑은 고딕"/>
              </a:defRPr>
            </a:pPr>
            <a:r>
              <a:t>FullObs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전체 관측 전술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BufferSensor 전체 적 관측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자율 적 분담 (타겟 배정 X)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• 다수 쌍 독립 운용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08  현재 진행 상황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2ECC71"/>
                </a:solidFill>
                <a:latin typeface="맑은 고딕"/>
              </a:defRPr>
            </a:pPr>
            <a:r>
              <a:t>완료된 구현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Unity 시뮬레이션 환경 구축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Gerstner 파도, 선박 물리, 부력 시스템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DefenseAgent 관측/액션 설계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VectorSensor(6) + BufferSensor(Enemy/Ally)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보상 함수 모듈화 (DefenseRewardCalculator)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대형 유지 + Ray 접근 + 포획/충돌 이벤트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오브젝트 풀 시스템 (적군 동적 스폰)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적군 포메이션 시스템 (3가지 패턴)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다수 쌍 진수/관리 시스템 (LaunchZoneManager)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Convoy-Deploy-Exit 메커니즘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2ECC71"/>
                </a:solidFill>
                <a:latin typeface="맑은 고딕"/>
              </a:defRPr>
            </a:pPr>
            <a:r>
              <a:t>✅ 커리큘럼 학습 Stage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진행 중 / 개선 필요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🔄 대형 유지 학습 안정화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보상 강화(×5) + Soft Boundary 적용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🔄 보상 밸런싱 튜닝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Dense vs Sparse 보상 비율 최적화</a:t>
            </a:r>
          </a:p>
          <a:p>
            <a:pPr algn="l">
              <a:spcBef>
                <a:spcPts val="300"/>
              </a:spcBef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🔄 하이퍼파라미터 튜닝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batch_size, buffer_size, beta 조정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F0F0F0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500" b="1">
                <a:solidFill>
                  <a:srgbClr val="1E90FF"/>
                </a:solidFill>
                <a:latin typeface="맑은 고딕"/>
              </a:defRPr>
            </a:pPr>
            <a:r>
              <a:t>🔬 실험 중인 접근법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• FixedJoint 쌍동선 (물리 연결)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  → 파도 비대칭 힘 문제로 보류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• 공격선 ML 학습 (Self-Play 준비)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0F0F0"/>
                </a:solidFill>
                <a:latin typeface="맑은 고딕"/>
              </a:defRPr>
            </a:pPr>
            <a:r>
              <a:t>     → 별도 브랜치에서 개발 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09  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1E90FF"/>
                </a:solidFill>
                <a:latin typeface="맑은 고딕"/>
              </a:defRPr>
            </a:pPr>
            <a:r>
              <a:t>Phase 1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1E90FF"/>
                </a:solidFill>
                <a:latin typeface="맑은 고딕"/>
              </a:defRPr>
            </a:pPr>
            <a:r>
              <a:t>학습 안정화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3~4월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대형 유지 학습 수렴 달성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보상 함수 밸런싱 완료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Stage 1~3 커리큘럼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56032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Phase 2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다중 쌍 운용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5~6월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Stage 8: 다수 쌍 독립 기동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쌍 간 충돌 회피 학습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적 자율 분담 능력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256032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Phase 3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2ECC71"/>
                </a:solidFill>
                <a:latin typeface="맑은 고딕"/>
              </a:defRPr>
            </a:pPr>
            <a:r>
              <a:t>Self-Play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7~8월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공격선 ML 에이전트 통합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방어 vs 공격 동시 학습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적응적 전술 창발 관찰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645920"/>
            <a:ext cx="2560320" cy="41148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Phase 4</a:t>
            </a:r>
          </a:p>
          <a:p>
            <a:pPr algn="l">
              <a:spcBef>
                <a:spcPts val="200"/>
              </a:spcBef>
              <a:defRPr sz="2000" b="1">
                <a:solidFill>
                  <a:srgbClr val="E74C3C"/>
                </a:solidFill>
                <a:latin typeface="맑은 고딕"/>
              </a:defRPr>
            </a:pPr>
            <a:r>
              <a:t>논문 작성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9~10월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실험 결과 정리/분석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기존 연구 대비 성능 비교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• 논문 투고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7CEEB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6035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맑은 고딕"/>
              </a:defRPr>
            </a:pPr>
            <a:r>
              <a:t>강화학습 기반 다중 무인 수상정 협력 제어  |  중간 보고  |  2026.03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